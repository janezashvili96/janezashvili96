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შესავალი" id="{c85dec4a-e1ac-e0a1-5b65-45589aa4ef20}">
          <p14:sldIdLst>
            <p14:sldId id="256"/>
            <p14:sldId id="257"/>
          </p14:sldIdLst>
        </p14:section>
        <p14:section name="ჩაგვრა" id="{e0947788-53bc-c22b-ed1e-d73b3f4698ce}">
          <p14:sldIdLst>
            <p14:sldId id="258"/>
            <p14:sldId id="259"/>
            <p14:sldId id="260"/>
            <p14:sldId id="261"/>
          </p14:sldIdLst>
        </p14:section>
        <p14:section name="სოლიდარობა" id="{e76bd4e0-e467-b53e-d951-0b4c4b0fa527}">
          <p14:sldIdLst>
            <p14:sldId id="262"/>
            <p14:sldId id="263"/>
            <p14:sldId id="264"/>
            <p14:sldId id="265"/>
            <p14:sldId id="266"/>
          </p14:sldIdLst>
        </p14:section>
        <p14:section name="დასასრული" id="{05e0ef8c-3355-b602-06c4-8f68ffd82f21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მისალმება. ჰკითხეთ ბავშვებს: ვის აქვს კლასში მეგობარი? დღეს ვისაუბრებთ იმაზე, როგორ ვიყოთ კარგი მეგობრები და ერთმანეთს როგორ დავეხმაროთ.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გააცანით გეგმა: სამი კითხვა, რომელსაც დღეს ვუპასუხებთ. ბავშვებს შეგიძლიათ სთხოვოთ, ხელები დაუქნიონ ერთმანეთს.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აუხსენით ორი მთავარი ნიშანი: ხდება ხშირად და ხდება განზრახ. შემთხვევითი წაკვრა ან ერთჯერადი კამათი ჩაგვრა არ არის. ჰკითხეთ: ვინ იცის მაგალითი?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სამი სახე: სიტყვით (დაცინვა, ცუდი სახელები), ხელით (ბიძგი, ნივთის წართმევა), გარიყვით (თამაშიდან გაგდება, ჩუმად მიტოვება). ყველა მათგანი გულს ატკენს.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ბავშვებს სთხოვეთ, სახით აჩვენონ ეს გრძნობები. ჰკითხეთ: როგორ იგრძნობდი, თვითონ რომ ყოფილიყავი მის ადგილას? ესაუბრეთ თანაგრძნობაზე.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ხაზი გაუსვით: არავინ იმსახურებს ჩაგვრას — არც გარეგნობის, არც ტანსაცმლის, არც ლაპარაკის მანერის გამო. განსხვავება გვამდიდრებს.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სოლიდარობა = მეგობრის მხარში დგომა. მაგალითი: თუ მეგობარი წაიქცა, ხელს ვაწვდით. თუ ვინმე მარტოა, ვეპატიჟებით თამაშში.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ოთხი მარტივი ნაბიჯი. თითოეულზე სთხოვეთ ბავშვებს, მოიყვანონ მაგალითი საკუთარი ცხოვრებიდან.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ივარჯიშეთ: ყველამ ერთად, მტკიცე ხმით თქვას „შეჩერდი! ეს არ მომწონს!“. აუხსენით, რომ უფროსისთვის თქმა სწორი და მამაცური საქციელია.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ვინც ჩაგვრას უყურებს და იცინის, ის ჩაგვრას ეხმარება. ვინც ჩაგრულს გვერდით უდგება, ის სოლიდარულია. ჰკითხეთ: რომელი გინდა იყო?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წაუკითხეთ ზღაპარი ხმამაღლა. შემდეგ ჰკითხეთ: როგორ გრძნობდა თავს ფაფუკა თავიდან? რა გააკეთეს დათუნიამ და მელიამ? როგორ გრძნობდა თავს ბოლოს?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წაიკითხეთ თითოეული სიტუაცია; ბავშვები ცერა თითით აჩვენებენ პასუხს. სწორი პასუხები: 1 — კარგი, 2 — ცუდი, 3 — კარგი, 4 — კარგი. ყოველ პასუხზე ჰკითხეთ: რატომ?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ყველამ ერთად, ხმამაღლა წაიკითხეთ პირობა. შეგიძლიათ კლასის ფოსტერზე ყველა ბავშვმა ხელის ანაბეჭდი დაიტოვოს — ეს იქნება ჩვენი სოლიდარობის ნიშანი.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ეს სლაიდი მასწავლებლისთვისაა — ბავშვებთან ჩვენება საჭირო არ არის.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0"/>
          <p:cNvSpPr/>
          <p:nvPr/>
        </p:nvSpPr>
        <p:spPr>
          <a:xfrm>
            <a:off x="365760" y="365760"/>
            <a:ext cx="457200" cy="45720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3" name="dot1"/>
          <p:cNvSpPr/>
          <p:nvPr/>
        </p:nvSpPr>
        <p:spPr>
          <a:xfrm>
            <a:off x="5120640" y="5943600"/>
            <a:ext cx="320040" cy="32004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dot2"/>
          <p:cNvSpPr/>
          <p:nvPr/>
        </p:nvSpPr>
        <p:spPr>
          <a:xfrm>
            <a:off x="5852160" y="548640"/>
            <a:ext cx="228600" cy="22860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5" name="dot3"/>
          <p:cNvSpPr/>
          <p:nvPr/>
        </p:nvSpPr>
        <p:spPr>
          <a:xfrm>
            <a:off x="822960" y="6035040"/>
            <a:ext cx="274320" cy="274320"/>
          </a:xfrm>
          <a:prstGeom prst="ellipse">
            <a:avLst/>
          </a:prstGeom>
          <a:solidFill>
            <a:srgbClr val="FFC93C">
              <a:alpha val="80000"/>
            </a:srgbClr>
          </a:solidFill>
          <a:ln/>
        </p:spPr>
      </p:sp>
      <p:sp>
        <p:nvSpPr>
          <p:cNvPr id="6" name="dot4"/>
          <p:cNvSpPr/>
          <p:nvPr/>
        </p:nvSpPr>
        <p:spPr>
          <a:xfrm>
            <a:off x="11521440" y="6217920"/>
            <a:ext cx="365760" cy="36576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914400"/>
            <a:ext cx="548640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ვიყოთ მეგობრები!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80360"/>
            <a:ext cx="56692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ჩაგვრა და სოლიდარობა</a:t>
            </a:r>
            <a:endParaRPr lang="en-US" sz="3400" dirty="0"/>
          </a:p>
        </p:txBody>
      </p:sp>
      <p:sp>
        <p:nvSpPr>
          <p:cNvPr id="9" name="classPill"/>
          <p:cNvSpPr/>
          <p:nvPr/>
        </p:nvSpPr>
        <p:spPr>
          <a:xfrm>
            <a:off x="640080" y="3977640"/>
            <a:ext cx="2926080" cy="685800"/>
          </a:xfrm>
          <a:prstGeom prst="roundRect">
            <a:avLst>
              <a:gd name="adj" fmla="val 49333"/>
            </a:avLst>
          </a:prstGeom>
          <a:solidFill>
            <a:srgbClr val="FFC9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977640"/>
            <a:ext cx="292608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პირველი კლასი</a:t>
            </a:r>
            <a:endParaRPr lang="en-US" sz="2400" dirty="0"/>
          </a:p>
        </p:txBody>
      </p:sp>
      <p:pic>
        <p:nvPicPr>
          <p:cNvPr id="11" name="titlePhoto" descr="მომღიმარი სკოლის მოსწავლეებ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234440"/>
            <a:ext cx="5394960" cy="3657600"/>
          </a:xfrm>
          <a:prstGeom prst="rect">
            <a:avLst/>
          </a:prstGeom>
        </p:spPr>
      </p:pic>
      <p:pic>
        <p:nvPicPr>
          <p:cNvPr id="12" name="heart" descr="წითელი გულ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502920"/>
            <a:ext cx="1188720" cy="1188720"/>
          </a:xfrm>
          <a:prstGeom prst="rect">
            <a:avLst/>
          </a:prstGeom>
        </p:spPr>
      </p:pic>
      <p:pic>
        <p:nvPicPr>
          <p:cNvPr id="13" name="rainbow" descr="ცისარტყელა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480560"/>
            <a:ext cx="1554480" cy="1554480"/>
          </a:xfrm>
          <a:prstGeom prst="rect">
            <a:avLst/>
          </a:prstGeom>
        </p:spPr>
      </p:pic>
      <p:pic>
        <p:nvPicPr>
          <p:cNvPr id="14" name="sparkles" descr="ვარსკვლავებ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1206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გამარჯობა, მეგობრებო!</a:t>
            </a:r>
            <a:endParaRPr lang="en-US" sz="4000" dirty="0"/>
          </a:p>
        </p:txBody>
      </p:sp>
      <p:pic>
        <p:nvPicPr>
          <p:cNvPr id="3" name="wave" descr="ხელის დაქნევ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2286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დღეს ერთად გავიგებთ:</a:t>
            </a:r>
            <a:endParaRPr lang="en-US" sz="2600" dirty="0"/>
          </a:p>
        </p:txBody>
      </p:sp>
      <p:sp>
        <p:nvSpPr>
          <p:cNvPr id="5" name="item0"/>
          <p:cNvSpPr/>
          <p:nvPr/>
        </p:nvSpPr>
        <p:spPr>
          <a:xfrm>
            <a:off x="548640" y="2103120"/>
            <a:ext cx="5852160" cy="105156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itemCircle0"/>
          <p:cNvSpPr/>
          <p:nvPr/>
        </p:nvSpPr>
        <p:spPr>
          <a:xfrm>
            <a:off x="731520" y="2212848"/>
            <a:ext cx="841248" cy="841248"/>
          </a:xfrm>
          <a:prstGeom prst="ellipse">
            <a:avLst/>
          </a:prstGeom>
          <a:solidFill>
            <a:srgbClr val="4DA8DA"/>
          </a:solidFill>
          <a:ln/>
        </p:spPr>
      </p:sp>
      <p:pic>
        <p:nvPicPr>
          <p:cNvPr id="7" name="itemIcon0" descr="რა არის ჩაგვრა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286000"/>
            <a:ext cx="694944" cy="6949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103120"/>
            <a:ext cx="448056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რა არის ჩაგვრა?</a:t>
            </a:r>
            <a:endParaRPr lang="en-US" sz="2600" dirty="0"/>
          </a:p>
        </p:txBody>
      </p:sp>
      <p:sp>
        <p:nvSpPr>
          <p:cNvPr id="9" name="item1"/>
          <p:cNvSpPr/>
          <p:nvPr/>
        </p:nvSpPr>
        <p:spPr>
          <a:xfrm>
            <a:off x="548640" y="3429000"/>
            <a:ext cx="5852160" cy="105156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itemCircle1"/>
          <p:cNvSpPr/>
          <p:nvPr/>
        </p:nvSpPr>
        <p:spPr>
          <a:xfrm>
            <a:off x="731520" y="3538728"/>
            <a:ext cx="841248" cy="841248"/>
          </a:xfrm>
          <a:prstGeom prst="ellipse">
            <a:avLst/>
          </a:prstGeom>
          <a:solidFill>
            <a:srgbClr val="4CC9A6"/>
          </a:solidFill>
          <a:ln/>
        </p:spPr>
      </p:sp>
      <p:pic>
        <p:nvPicPr>
          <p:cNvPr id="11" name="itemIcon1" descr="რა არის სოლიდარობა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611880"/>
            <a:ext cx="694944" cy="6949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429000"/>
            <a:ext cx="448056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რა არის სოლიდარობა?</a:t>
            </a:r>
            <a:endParaRPr lang="en-US" sz="2600" dirty="0"/>
          </a:p>
        </p:txBody>
      </p:sp>
      <p:sp>
        <p:nvSpPr>
          <p:cNvPr id="13" name="item2"/>
          <p:cNvSpPr/>
          <p:nvPr/>
        </p:nvSpPr>
        <p:spPr>
          <a:xfrm>
            <a:off x="548640" y="4754880"/>
            <a:ext cx="5852160" cy="105156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itemCircle2"/>
          <p:cNvSpPr/>
          <p:nvPr/>
        </p:nvSpPr>
        <p:spPr>
          <a:xfrm>
            <a:off x="731520" y="4864608"/>
            <a:ext cx="841248" cy="841248"/>
          </a:xfrm>
          <a:prstGeom prst="ellipse">
            <a:avLst/>
          </a:prstGeom>
          <a:solidFill>
            <a:srgbClr val="9B72CF"/>
          </a:solidFill>
          <a:ln/>
        </p:spPr>
      </p:sp>
      <p:pic>
        <p:nvPicPr>
          <p:cNvPr id="15" name="itemIcon2" descr="როგორ დავეხმაროთ ერთმანეთს?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937760"/>
            <a:ext cx="694944" cy="6949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83080" y="4754880"/>
            <a:ext cx="448056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როგორ დავეხმაროთ ერთმანეთს?</a:t>
            </a:r>
            <a:endParaRPr lang="en-US" sz="2600" dirty="0"/>
          </a:p>
        </p:txBody>
      </p:sp>
      <p:pic>
        <p:nvPicPr>
          <p:cNvPr id="17" name="helloPhoto" descr="ბავშვები ერთად იღიმია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00200"/>
            <a:ext cx="4663440" cy="3547872"/>
          </a:xfrm>
          <a:prstGeom prst="rect">
            <a:avLst/>
          </a:prstGeom>
        </p:spPr>
      </p:pic>
      <p:sp>
        <p:nvSpPr>
          <p:cNvPr id="18" name="dot0"/>
          <p:cNvSpPr/>
          <p:nvPr/>
        </p:nvSpPr>
        <p:spPr>
          <a:xfrm>
            <a:off x="11155680" y="5486400"/>
            <a:ext cx="365760" cy="36576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9" name="dot1"/>
          <p:cNvSpPr/>
          <p:nvPr/>
        </p:nvSpPr>
        <p:spPr>
          <a:xfrm>
            <a:off x="6766560" y="5760720"/>
            <a:ext cx="274320" cy="274320"/>
          </a:xfrm>
          <a:prstGeom prst="ellipse">
            <a:avLst/>
          </a:prstGeom>
          <a:solidFill>
            <a:srgbClr val="FF6B6B">
              <a:alpha val="7000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რა არის ჩაგვრა?</a:t>
            </a:r>
            <a:endParaRPr lang="en-US" sz="4000" dirty="0"/>
          </a:p>
        </p:txBody>
      </p:sp>
      <p:sp>
        <p:nvSpPr>
          <p:cNvPr id="3" name="defCard"/>
          <p:cNvSpPr/>
          <p:nvPr/>
        </p:nvSpPr>
        <p:spPr>
          <a:xfrm>
            <a:off x="548640" y="1463040"/>
            <a:ext cx="6766560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30936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ჩაგვრა არის, როცა ვინმე ისევ და ისევ, განზრახ აწყენინებს სხვას.</a:t>
            </a:r>
            <a:endParaRPr lang="en-US" sz="3000" dirty="0"/>
          </a:p>
        </p:txBody>
      </p:sp>
      <p:sp>
        <p:nvSpPr>
          <p:cNvPr id="5" name="pill0"/>
          <p:cNvSpPr/>
          <p:nvPr/>
        </p:nvSpPr>
        <p:spPr>
          <a:xfrm>
            <a:off x="548640" y="3703320"/>
            <a:ext cx="3246120" cy="822960"/>
          </a:xfrm>
          <a:prstGeom prst="roundRect">
            <a:avLst>
              <a:gd name="adj" fmla="val 50000"/>
            </a:avLst>
          </a:prstGeom>
          <a:solidFill>
            <a:srgbClr val="4DA8D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703320"/>
            <a:ext cx="32461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ხშირად</a:t>
            </a:r>
            <a:endParaRPr lang="en-US" sz="2200" dirty="0"/>
          </a:p>
        </p:txBody>
      </p:sp>
      <p:sp>
        <p:nvSpPr>
          <p:cNvPr id="7" name="pill1"/>
          <p:cNvSpPr/>
          <p:nvPr/>
        </p:nvSpPr>
        <p:spPr>
          <a:xfrm>
            <a:off x="4023360" y="3703320"/>
            <a:ext cx="3246120" cy="8229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23360" y="3703320"/>
            <a:ext cx="32461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განზრახ</a:t>
            </a:r>
            <a:endParaRPr lang="en-US" sz="2200" dirty="0"/>
          </a:p>
        </p:txBody>
      </p:sp>
      <p:sp>
        <p:nvSpPr>
          <p:cNvPr id="9" name="noteCard"/>
          <p:cNvSpPr/>
          <p:nvPr/>
        </p:nvSpPr>
        <p:spPr>
          <a:xfrm>
            <a:off x="548640" y="4892040"/>
            <a:ext cx="6766560" cy="1234440"/>
          </a:xfrm>
          <a:prstGeom prst="roundRect">
            <a:avLst>
              <a:gd name="adj" fmla="val 22222"/>
            </a:avLst>
          </a:prstGeom>
          <a:solidFill>
            <a:srgbClr val="FFF6D6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4937760"/>
            <a:ext cx="635508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თუ ვინმემ შემთხვევით გკრა ხელი და ბოდიში მოგიხადა — ეს ჩაგვრა არ არის.</a:t>
            </a:r>
            <a:endParaRPr lang="en-US" sz="2000" dirty="0"/>
          </a:p>
        </p:txBody>
      </p:sp>
      <p:sp>
        <p:nvSpPr>
          <p:cNvPr id="11" name="faceCircle"/>
          <p:cNvSpPr/>
          <p:nvPr/>
        </p:nvSpPr>
        <p:spPr>
          <a:xfrm>
            <a:off x="8001000" y="1463040"/>
            <a:ext cx="3657600" cy="3657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angryFace" descr="გაბრაზებული სახ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011680"/>
            <a:ext cx="2560320" cy="2560320"/>
          </a:xfrm>
          <a:prstGeom prst="rect">
            <a:avLst/>
          </a:prstGeom>
        </p:spPr>
      </p:pic>
      <p:pic>
        <p:nvPicPr>
          <p:cNvPr id="13" name="cryFace" descr="მტირალა სახ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343400"/>
            <a:ext cx="1371600" cy="1371600"/>
          </a:xfrm>
          <a:prstGeom prst="rect">
            <a:avLst/>
          </a:prstGeom>
        </p:spPr>
      </p:pic>
      <p:pic>
        <p:nvPicPr>
          <p:cNvPr id="14" name="angerSymbol" descr="ბრაზის ნიშან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2588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ჩაგვრა სხვადასხვანაირია</a:t>
            </a:r>
            <a:endParaRPr lang="en-US" sz="4000" dirty="0"/>
          </a:p>
        </p:txBody>
      </p:sp>
      <p:sp>
        <p:nvSpPr>
          <p:cNvPr id="3" name="typeCard0"/>
          <p:cNvSpPr/>
          <p:nvPr/>
        </p:nvSpPr>
        <p:spPr>
          <a:xfrm>
            <a:off x="548640" y="1508760"/>
            <a:ext cx="3474720" cy="45720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ypeCircle0"/>
          <p:cNvSpPr/>
          <p:nvPr/>
        </p:nvSpPr>
        <p:spPr>
          <a:xfrm>
            <a:off x="1463040" y="1783080"/>
            <a:ext cx="1645920" cy="1645920"/>
          </a:xfrm>
          <a:prstGeom prst="ellipse">
            <a:avLst/>
          </a:prstGeom>
          <a:solidFill>
            <a:srgbClr val="4DA8DA"/>
          </a:solidFill>
          <a:ln/>
        </p:spPr>
      </p:sp>
      <p:pic>
        <p:nvPicPr>
          <p:cNvPr id="5" name="typeIcon0" descr="სიტყვი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96596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A8DA"/>
                </a:solidFill>
              </a:rPr>
              <a:t>სიტყვით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389120"/>
            <a:ext cx="292608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ცუდი სახელი დაარქვა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დასცინა</a:t>
            </a:r>
            <a:endParaRPr lang="en-US" sz="2200" dirty="0"/>
          </a:p>
        </p:txBody>
      </p:sp>
      <p:sp>
        <p:nvSpPr>
          <p:cNvPr id="8" name="typeCard1"/>
          <p:cNvSpPr/>
          <p:nvPr/>
        </p:nvSpPr>
        <p:spPr>
          <a:xfrm>
            <a:off x="4297680" y="1508760"/>
            <a:ext cx="3474720" cy="45720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ypeCircle1"/>
          <p:cNvSpPr/>
          <p:nvPr/>
        </p:nvSpPr>
        <p:spPr>
          <a:xfrm>
            <a:off x="5212080" y="1783080"/>
            <a:ext cx="1645920" cy="1645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0" name="typeIcon1" descr="ხელით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5960"/>
            <a:ext cx="1280160" cy="12801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</a:rPr>
              <a:t>ხელით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4389120"/>
            <a:ext cx="292608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უბიძგა ან დაარტყა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ნივთი წაართვა</a:t>
            </a:r>
            <a:endParaRPr lang="en-US" sz="2200" dirty="0"/>
          </a:p>
        </p:txBody>
      </p:sp>
      <p:sp>
        <p:nvSpPr>
          <p:cNvPr id="13" name="typeCard2"/>
          <p:cNvSpPr/>
          <p:nvPr/>
        </p:nvSpPr>
        <p:spPr>
          <a:xfrm>
            <a:off x="8046720" y="1508760"/>
            <a:ext cx="3474720" cy="45720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ypeCircle2"/>
          <p:cNvSpPr/>
          <p:nvPr/>
        </p:nvSpPr>
        <p:spPr>
          <a:xfrm>
            <a:off x="8961120" y="1783080"/>
            <a:ext cx="1645920" cy="1645920"/>
          </a:xfrm>
          <a:prstGeom prst="ellipse">
            <a:avLst/>
          </a:prstGeom>
          <a:solidFill>
            <a:srgbClr val="9B72CF"/>
          </a:solidFill>
          <a:ln/>
        </p:spPr>
      </p:sp>
      <p:pic>
        <p:nvPicPr>
          <p:cNvPr id="15" name="typeIcon2" descr="გარიყვით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65960"/>
            <a:ext cx="1280160" cy="12801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72CF"/>
                </a:solidFill>
              </a:rPr>
              <a:t>გარიყვით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4389120"/>
            <a:ext cx="292608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თამაშში არ მიიღო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ყველამ მიატოვა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როგორ გრძნობს თავს?</a:t>
            </a:r>
            <a:endParaRPr lang="en-US" sz="4000" dirty="0"/>
          </a:p>
        </p:txBody>
      </p:sp>
      <p:pic>
        <p:nvPicPr>
          <p:cNvPr id="3" name="sadPhoto" descr="მოწყენილი ბავშვი კიბეზე ზი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611880" cy="4754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0" y="1417320"/>
            <a:ext cx="70408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ვისაც ჩაგრავენ, ის შეიძლება იყოს:</a:t>
            </a:r>
            <a:endParaRPr lang="en-US" sz="2600" dirty="0"/>
          </a:p>
        </p:txBody>
      </p:sp>
      <p:sp>
        <p:nvSpPr>
          <p:cNvPr id="5" name="feelCard0"/>
          <p:cNvSpPr/>
          <p:nvPr/>
        </p:nvSpPr>
        <p:spPr>
          <a:xfrm>
            <a:off x="4572000" y="2286000"/>
            <a:ext cx="2148840" cy="251460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feelIcon0" descr="მოწყენილ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468880"/>
            <a:ext cx="1280160" cy="1280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63440" y="3931920"/>
            <a:ext cx="1965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მოწყენილი</a:t>
            </a:r>
            <a:endParaRPr lang="en-US" sz="2200" dirty="0"/>
          </a:p>
        </p:txBody>
      </p:sp>
      <p:sp>
        <p:nvSpPr>
          <p:cNvPr id="8" name="feelCard1"/>
          <p:cNvSpPr/>
          <p:nvPr/>
        </p:nvSpPr>
        <p:spPr>
          <a:xfrm>
            <a:off x="6949440" y="2286000"/>
            <a:ext cx="2148840" cy="251460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9" name="feelIcon1" descr="შეშინებულ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468880"/>
            <a:ext cx="1280160" cy="12801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040880" y="3931920"/>
            <a:ext cx="1965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შეშინებული</a:t>
            </a:r>
            <a:endParaRPr lang="en-US" sz="2200" dirty="0"/>
          </a:p>
        </p:txBody>
      </p:sp>
      <p:sp>
        <p:nvSpPr>
          <p:cNvPr id="11" name="feelCard2"/>
          <p:cNvSpPr/>
          <p:nvPr/>
        </p:nvSpPr>
        <p:spPr>
          <a:xfrm>
            <a:off x="9326880" y="2286000"/>
            <a:ext cx="2148840" cy="251460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feelIcon2" descr="მარტოსულ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648" y="2468880"/>
            <a:ext cx="1280160" cy="12801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418320" y="3931920"/>
            <a:ext cx="1965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მარტოსული</a:t>
            </a:r>
            <a:endParaRPr lang="en-US" sz="2200" dirty="0"/>
          </a:p>
        </p:txBody>
      </p:sp>
      <p:sp>
        <p:nvSpPr>
          <p:cNvPr id="14" name="askCard"/>
          <p:cNvSpPr/>
          <p:nvPr/>
        </p:nvSpPr>
        <p:spPr>
          <a:xfrm>
            <a:off x="4572000" y="5120640"/>
            <a:ext cx="7040880" cy="1005840"/>
          </a:xfrm>
          <a:prstGeom prst="roundRect">
            <a:avLst>
              <a:gd name="adj" fmla="val 27273"/>
            </a:avLst>
          </a:prstGeom>
          <a:solidFill>
            <a:srgbClr val="9B72C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4754880" y="5120640"/>
            <a:ext cx="66751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შენ როგორ იგრძნობდი?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2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ჩაგვრა არ არის კარგი!</a:t>
            </a:r>
            <a:endParaRPr lang="en-US" sz="4000" dirty="0"/>
          </a:p>
        </p:txBody>
      </p:sp>
      <p:sp>
        <p:nvSpPr>
          <p:cNvPr id="3" name="shieldCircle"/>
          <p:cNvSpPr/>
          <p:nvPr/>
        </p:nvSpPr>
        <p:spPr>
          <a:xfrm>
            <a:off x="822960" y="1691640"/>
            <a:ext cx="3749040" cy="3749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shield" descr="ფარ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194560"/>
            <a:ext cx="2743200" cy="2743200"/>
          </a:xfrm>
          <a:prstGeom prst="rect">
            <a:avLst/>
          </a:prstGeom>
        </p:spPr>
      </p:pic>
      <p:sp>
        <p:nvSpPr>
          <p:cNvPr id="5" name="rightCard"/>
          <p:cNvSpPr/>
          <p:nvPr/>
        </p:nvSpPr>
        <p:spPr>
          <a:xfrm>
            <a:off x="5212080" y="1691640"/>
            <a:ext cx="6400800" cy="19202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0" y="1737360"/>
            <a:ext cx="594360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ყველა ბავშვს აქვს უფლება, სკოლაში თავი უსაფრთხოდ და კარგად იგრძნოს.</a:t>
            </a:r>
            <a:endParaRPr lang="en-US" sz="2600" dirty="0"/>
          </a:p>
        </p:txBody>
      </p:sp>
      <p:sp>
        <p:nvSpPr>
          <p:cNvPr id="7" name="diffCard"/>
          <p:cNvSpPr/>
          <p:nvPr/>
        </p:nvSpPr>
        <p:spPr>
          <a:xfrm>
            <a:off x="5212080" y="3886200"/>
            <a:ext cx="6400800" cy="1920240"/>
          </a:xfrm>
          <a:prstGeom prst="roundRect">
            <a:avLst>
              <a:gd name="adj" fmla="val 14286"/>
            </a:avLst>
          </a:prstGeom>
          <a:solidFill>
            <a:srgbClr val="4CC9A6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486400" y="3931920"/>
            <a:ext cx="457200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ჩვენ ყველანი განსხვავებულები ვართ — და ეს მშვენიერია!</a:t>
            </a:r>
            <a:endParaRPr lang="en-US" sz="2600" dirty="0"/>
          </a:p>
        </p:txBody>
      </p:sp>
      <p:pic>
        <p:nvPicPr>
          <p:cNvPr id="9" name="rainbow6" descr="ცისარტყელ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20624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B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რა არის სოლიდარობა?</a:t>
            </a:r>
            <a:endParaRPr lang="en-US" sz="4000" dirty="0"/>
          </a:p>
        </p:txBody>
      </p:sp>
      <p:pic>
        <p:nvPicPr>
          <p:cNvPr id="3" name="friendsPhoto" descr="ორი მეგობარი გოგონა ერთმანეთს ეხუტებ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023360" cy="4023360"/>
          </a:xfrm>
          <a:prstGeom prst="rect">
            <a:avLst/>
          </a:prstGeom>
        </p:spPr>
      </p:pic>
      <p:sp>
        <p:nvSpPr>
          <p:cNvPr id="4" name="defCard7"/>
          <p:cNvSpPr/>
          <p:nvPr/>
        </p:nvSpPr>
        <p:spPr>
          <a:xfrm>
            <a:off x="548640" y="1463040"/>
            <a:ext cx="6583680" cy="21945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612648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სოლიდარობა ნიშნავს, ვიდგეთ ერთმანეთის გვერდით, როცა ვინმეს უჭირს.</a:t>
            </a:r>
            <a:endParaRPr lang="en-US" sz="3000" dirty="0"/>
          </a:p>
        </p:txBody>
      </p:sp>
      <p:sp>
        <p:nvSpPr>
          <p:cNvPr id="6" name="slogan"/>
          <p:cNvSpPr/>
          <p:nvPr/>
        </p:nvSpPr>
        <p:spPr>
          <a:xfrm>
            <a:off x="548640" y="4023360"/>
            <a:ext cx="6583680" cy="1188720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/>
        </p:spPr>
      </p:sp>
      <p:pic>
        <p:nvPicPr>
          <p:cNvPr id="7" name="handshake" descr="ხელის ჩამორთმევ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0"/>
            <a:ext cx="1005840" cy="10058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20240" y="4023360"/>
            <a:ext cx="512064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ერთად ჩვენ უფრო ძლიერები ვართ!</a:t>
            </a:r>
            <a:endParaRPr lang="en-US" sz="2800" dirty="0"/>
          </a:p>
        </p:txBody>
      </p:sp>
      <p:sp>
        <p:nvSpPr>
          <p:cNvPr id="9" name="dot0"/>
          <p:cNvSpPr/>
          <p:nvPr/>
        </p:nvSpPr>
        <p:spPr>
          <a:xfrm>
            <a:off x="914400" y="576072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dot1"/>
          <p:cNvSpPr/>
          <p:nvPr/>
        </p:nvSpPr>
        <p:spPr>
          <a:xfrm>
            <a:off x="6675120" y="5669280"/>
            <a:ext cx="411480" cy="41148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1" name="dot2"/>
          <p:cNvSpPr/>
          <p:nvPr/>
        </p:nvSpPr>
        <p:spPr>
          <a:xfrm>
            <a:off x="11247120" y="5760720"/>
            <a:ext cx="274320" cy="274320"/>
          </a:xfrm>
          <a:prstGeom prst="ellipse">
            <a:avLst/>
          </a:prstGeom>
          <a:solidFill>
            <a:srgbClr val="4CC9A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როგორ ვიყოთ სოლიდარულები?</a:t>
            </a:r>
            <a:endParaRPr lang="en-US" sz="4000" dirty="0"/>
          </a:p>
        </p:txBody>
      </p:sp>
      <p:sp>
        <p:nvSpPr>
          <p:cNvPr id="3" name="stepCard0"/>
          <p:cNvSpPr/>
          <p:nvPr/>
        </p:nvSpPr>
        <p:spPr>
          <a:xfrm>
            <a:off x="548640" y="1508760"/>
            <a:ext cx="320040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stepNum0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4DA8D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pic>
        <p:nvPicPr>
          <p:cNvPr id="6" name="stepIcon0" descr="მოუსმინე მეგობარ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6916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მოუსმინე მეგობარს</a:t>
            </a:r>
            <a:endParaRPr lang="en-US" sz="2100" dirty="0"/>
          </a:p>
        </p:txBody>
      </p:sp>
      <p:sp>
        <p:nvSpPr>
          <p:cNvPr id="8" name="stepCard1"/>
          <p:cNvSpPr/>
          <p:nvPr/>
        </p:nvSpPr>
        <p:spPr>
          <a:xfrm>
            <a:off x="3977640" y="1508760"/>
            <a:ext cx="320040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stepNum1"/>
          <p:cNvSpPr/>
          <p:nvPr/>
        </p:nvSpPr>
        <p:spPr>
          <a:xfrm>
            <a:off x="4160520" y="1691640"/>
            <a:ext cx="548640" cy="548640"/>
          </a:xfrm>
          <a:prstGeom prst="ellipse">
            <a:avLst/>
          </a:prstGeom>
          <a:solidFill>
            <a:srgbClr val="4CC9A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60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pic>
        <p:nvPicPr>
          <p:cNvPr id="11" name="stepIcon1" descr="ჩართე თამაშშ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91640"/>
            <a:ext cx="914400" cy="914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ჩართე თამაშში</a:t>
            </a:r>
            <a:endParaRPr lang="en-US" sz="2100" dirty="0"/>
          </a:p>
        </p:txBody>
      </p:sp>
      <p:sp>
        <p:nvSpPr>
          <p:cNvPr id="13" name="stepCard2"/>
          <p:cNvSpPr/>
          <p:nvPr/>
        </p:nvSpPr>
        <p:spPr>
          <a:xfrm>
            <a:off x="548640" y="3840480"/>
            <a:ext cx="320040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stepNum2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pic>
        <p:nvPicPr>
          <p:cNvPr id="16" name="stepIcon2" descr="უთხარი თბილი სიტყვა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4023360"/>
            <a:ext cx="914400" cy="9144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უთხარი თბილი სიტყვა</a:t>
            </a:r>
            <a:endParaRPr lang="en-US" sz="2100" dirty="0"/>
          </a:p>
        </p:txBody>
      </p:sp>
      <p:sp>
        <p:nvSpPr>
          <p:cNvPr id="18" name="stepCard3"/>
          <p:cNvSpPr/>
          <p:nvPr/>
        </p:nvSpPr>
        <p:spPr>
          <a:xfrm>
            <a:off x="3977640" y="3840480"/>
            <a:ext cx="320040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9" name="stepNum3"/>
          <p:cNvSpPr/>
          <p:nvPr/>
        </p:nvSpPr>
        <p:spPr>
          <a:xfrm>
            <a:off x="4160520" y="4023360"/>
            <a:ext cx="548640" cy="548640"/>
          </a:xfrm>
          <a:prstGeom prst="ellipse">
            <a:avLst/>
          </a:prstGeom>
          <a:solidFill>
            <a:srgbClr val="9B72C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1605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pic>
        <p:nvPicPr>
          <p:cNvPr id="21" name="stepIcon3" descr="სთხოვე დახმარება უფროსს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4023360"/>
            <a:ext cx="914400" cy="9144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114800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სთხოვე დახმარება უფროსს</a:t>
            </a:r>
            <a:endParaRPr lang="en-US" sz="2100" dirty="0"/>
          </a:p>
        </p:txBody>
      </p:sp>
      <p:pic>
        <p:nvPicPr>
          <p:cNvPr id="23" name="schoolFriends" descr="ორი მოსწავლე ერთმანეთს მხარზე ხელს ადებს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874520"/>
            <a:ext cx="4160520" cy="31638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თუ შენ გჩაგრავენ...</a:t>
            </a:r>
            <a:endParaRPr lang="en-US" sz="4000" dirty="0"/>
          </a:p>
        </p:txBody>
      </p:sp>
      <p:sp>
        <p:nvSpPr>
          <p:cNvPr id="3" name="ifCard0"/>
          <p:cNvSpPr/>
          <p:nvPr/>
        </p:nvSpPr>
        <p:spPr>
          <a:xfrm>
            <a:off x="548640" y="1508760"/>
            <a:ext cx="3429000" cy="32918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ifCircle0"/>
          <p:cNvSpPr/>
          <p:nvPr/>
        </p:nvSpPr>
        <p:spPr>
          <a:xfrm>
            <a:off x="1527048" y="1691640"/>
            <a:ext cx="1463040" cy="14630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5" name="ifIcon0" descr="მტკიცედ თქვი: „შეჩერდი! ეს არ მომწონს!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18745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3291840"/>
            <a:ext cx="31546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მტკიცედ თქვი: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„შეჩერდი! ეს არ მომწონს!“</a:t>
            </a:r>
            <a:endParaRPr lang="en-US" sz="2200" dirty="0"/>
          </a:p>
        </p:txBody>
      </p:sp>
      <p:sp>
        <p:nvSpPr>
          <p:cNvPr id="7" name="arrow0"/>
          <p:cNvSpPr/>
          <p:nvPr/>
        </p:nvSpPr>
        <p:spPr>
          <a:xfrm>
            <a:off x="4023360" y="2834640"/>
            <a:ext cx="274320" cy="457200"/>
          </a:xfrm>
          <a:prstGeom prst="rightArrow">
            <a:avLst/>
          </a:prstGeom>
          <a:solidFill>
            <a:srgbClr val="3D3B8E"/>
          </a:solidFill>
          <a:ln/>
        </p:spPr>
      </p:sp>
      <p:sp>
        <p:nvSpPr>
          <p:cNvPr id="8" name="ifCard1"/>
          <p:cNvSpPr/>
          <p:nvPr/>
        </p:nvSpPr>
        <p:spPr>
          <a:xfrm>
            <a:off x="4343400" y="1508760"/>
            <a:ext cx="3429000" cy="32918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ifCircle1"/>
          <p:cNvSpPr/>
          <p:nvPr/>
        </p:nvSpPr>
        <p:spPr>
          <a:xfrm>
            <a:off x="5321808" y="1691640"/>
            <a:ext cx="1463040" cy="1463040"/>
          </a:xfrm>
          <a:prstGeom prst="ellipse">
            <a:avLst/>
          </a:prstGeom>
          <a:solidFill>
            <a:srgbClr val="4DA8DA"/>
          </a:solidFill>
          <a:ln/>
        </p:spPr>
      </p:sp>
      <p:pic>
        <p:nvPicPr>
          <p:cNvPr id="10" name="ifIcon1" descr="წადი იქიდან მშვიდად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1874520"/>
            <a:ext cx="1097280" cy="1097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3291840"/>
            <a:ext cx="31546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წადი იქიდან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მშვიდად</a:t>
            </a:r>
            <a:endParaRPr lang="en-US" sz="2200" dirty="0"/>
          </a:p>
        </p:txBody>
      </p:sp>
      <p:sp>
        <p:nvSpPr>
          <p:cNvPr id="12" name="arrow1"/>
          <p:cNvSpPr/>
          <p:nvPr/>
        </p:nvSpPr>
        <p:spPr>
          <a:xfrm>
            <a:off x="7818120" y="2834640"/>
            <a:ext cx="274320" cy="457200"/>
          </a:xfrm>
          <a:prstGeom prst="rightArrow">
            <a:avLst/>
          </a:prstGeom>
          <a:solidFill>
            <a:srgbClr val="3D3B8E"/>
          </a:solidFill>
          <a:ln/>
        </p:spPr>
      </p:sp>
      <p:sp>
        <p:nvSpPr>
          <p:cNvPr id="13" name="ifCard2"/>
          <p:cNvSpPr/>
          <p:nvPr/>
        </p:nvSpPr>
        <p:spPr>
          <a:xfrm>
            <a:off x="8138160" y="1508760"/>
            <a:ext cx="3429000" cy="32918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ifCircle2"/>
          <p:cNvSpPr/>
          <p:nvPr/>
        </p:nvSpPr>
        <p:spPr>
          <a:xfrm>
            <a:off x="9116568" y="1691640"/>
            <a:ext cx="1463040" cy="1463040"/>
          </a:xfrm>
          <a:prstGeom prst="ellipse">
            <a:avLst/>
          </a:prstGeom>
          <a:solidFill>
            <a:srgbClr val="4CC9A6"/>
          </a:solidFill>
          <a:ln/>
        </p:spPr>
      </p:sp>
      <p:pic>
        <p:nvPicPr>
          <p:cNvPr id="15" name="ifIcon2" descr="უთხარი მასწავლებელს ან მშობელს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8" y="1874520"/>
            <a:ext cx="1097280" cy="10972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3291840"/>
            <a:ext cx="31546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უთხარი მასწავლებელს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ან მშობელს</a:t>
            </a:r>
            <a:endParaRPr lang="en-US" sz="2200" dirty="0"/>
          </a:p>
        </p:txBody>
      </p:sp>
      <p:sp>
        <p:nvSpPr>
          <p:cNvPr id="17" name="tellCard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27273"/>
            </a:avLst>
          </a:prstGeom>
          <a:solidFill>
            <a:srgbClr val="FFC93C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18" name="bulb" descr="ნათურა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12080"/>
            <a:ext cx="822960" cy="8229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5120640"/>
            <a:ext cx="96926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უფროსისთვის მოყოლა ჭორაობა არ არის — ეს დახმარების თხოვნაა!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2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თუ ხედავ, რომ სხვას ჩაგრავენ...</a:t>
            </a:r>
            <a:endParaRPr lang="en-US" sz="4000" dirty="0"/>
          </a:p>
        </p:txBody>
      </p:sp>
      <p:sp>
        <p:nvSpPr>
          <p:cNvPr id="3" name="rowCard0"/>
          <p:cNvSpPr/>
          <p:nvPr/>
        </p:nvSpPr>
        <p:spPr>
          <a:xfrm>
            <a:off x="548640" y="1463040"/>
            <a:ext cx="6949440" cy="96012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rowIcon0" descr="არ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463040"/>
            <a:ext cx="566928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არ გაიცინო და არ შეუერთდე</a:t>
            </a:r>
            <a:endParaRPr lang="en-US" sz="2600" dirty="0"/>
          </a:p>
        </p:txBody>
      </p:sp>
      <p:sp>
        <p:nvSpPr>
          <p:cNvPr id="6" name="rowCard1"/>
          <p:cNvSpPr/>
          <p:nvPr/>
        </p:nvSpPr>
        <p:spPr>
          <a:xfrm>
            <a:off x="548640" y="2633472"/>
            <a:ext cx="6949440" cy="96012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7" name="rowIcon1" descr="კ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70632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2633472"/>
            <a:ext cx="566928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დაუდექი გვერდით</a:t>
            </a:r>
            <a:endParaRPr lang="en-US" sz="2600" dirty="0"/>
          </a:p>
        </p:txBody>
      </p:sp>
      <p:sp>
        <p:nvSpPr>
          <p:cNvPr id="9" name="rowCard2"/>
          <p:cNvSpPr/>
          <p:nvPr/>
        </p:nvSpPr>
        <p:spPr>
          <a:xfrm>
            <a:off x="548640" y="3803904"/>
            <a:ext cx="6949440" cy="96012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10" name="rowIcon2" descr="კ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41064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45920" y="3803904"/>
            <a:ext cx="566928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დაუძახე უფროსს</a:t>
            </a:r>
            <a:endParaRPr lang="en-US" sz="2600" dirty="0"/>
          </a:p>
        </p:txBody>
      </p:sp>
      <p:sp>
        <p:nvSpPr>
          <p:cNvPr id="12" name="rowCard3"/>
          <p:cNvSpPr/>
          <p:nvPr/>
        </p:nvSpPr>
        <p:spPr>
          <a:xfrm>
            <a:off x="548640" y="4974336"/>
            <a:ext cx="6949440" cy="96012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13" name="rowIcon3" descr="კ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11496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45920" y="4974336"/>
            <a:ext cx="566928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უთხარი: „მე შენთან ვარ!“</a:t>
            </a:r>
            <a:endParaRPr lang="en-US" sz="2600" dirty="0"/>
          </a:p>
        </p:txBody>
      </p:sp>
      <p:sp>
        <p:nvSpPr>
          <p:cNvPr id="15" name="hugCircle"/>
          <p:cNvSpPr/>
          <p:nvPr/>
        </p:nvSpPr>
        <p:spPr>
          <a:xfrm>
            <a:off x="8092440" y="1463040"/>
            <a:ext cx="3566160" cy="35661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hug" descr="ჩახუტებული ადამიანებ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920240"/>
            <a:ext cx="2651760" cy="26517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863840" y="5212080"/>
            <a:ext cx="40233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შენ შეგიძლია იყო გმირი!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ზღაპარი: კურდღელი ფაფუკა</a:t>
            </a:r>
            <a:endParaRPr lang="en-US" sz="4000" dirty="0"/>
          </a:p>
        </p:txBody>
      </p:sp>
      <p:pic>
        <p:nvPicPr>
          <p:cNvPr id="3" name="bunny" descr="მულტფილმის კურდღელ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206240" cy="3200400"/>
          </a:xfrm>
          <a:prstGeom prst="rect">
            <a:avLst/>
          </a:prstGeom>
        </p:spPr>
      </p:pic>
      <p:pic>
        <p:nvPicPr>
          <p:cNvPr id="4" name="bear" descr="დათუნი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46320"/>
            <a:ext cx="1188720" cy="1188720"/>
          </a:xfrm>
          <a:prstGeom prst="rect">
            <a:avLst/>
          </a:prstGeom>
        </p:spPr>
      </p:pic>
      <p:pic>
        <p:nvPicPr>
          <p:cNvPr id="5" name="fox" descr="მელია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4846320"/>
            <a:ext cx="1188720" cy="1188720"/>
          </a:xfrm>
          <a:prstGeom prst="rect">
            <a:avLst/>
          </a:prstGeom>
        </p:spPr>
      </p:pic>
      <p:sp>
        <p:nvSpPr>
          <p:cNvPr id="6" name="storyCard"/>
          <p:cNvSpPr/>
          <p:nvPr/>
        </p:nvSpPr>
        <p:spPr>
          <a:xfrm>
            <a:off x="5212080" y="1463040"/>
            <a:ext cx="6400800" cy="35661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2"/>
          <p:cNvSpPr txBox="1"/>
          <p:nvPr/>
        </p:nvSpPr>
        <p:spPr>
          <a:xfrm>
            <a:off x="5440680" y="1600200"/>
            <a:ext cx="594360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ფაფუკას ძალიან გრძელი ყურები ჰქონდა. ზოგი ცხოველი მას დასცინოდა და თამაშში არ იღებდა.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ერთ დღეს დათუნიამ და მელიამ თქვეს: „ასე არ შეიძლება!“ — დაუდგნენ ფაფუკას გვერდით და თამაშში ჩართეს.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</a:rPr>
              <a:t>ფაფუკამ ისევ გაიღიმა!</a:t>
            </a:r>
            <a:endParaRPr lang="en-US" sz="2100" dirty="0"/>
          </a:p>
        </p:txBody>
      </p:sp>
      <p:sp>
        <p:nvSpPr>
          <p:cNvPr id="8" name="storyQ"/>
          <p:cNvSpPr/>
          <p:nvPr/>
        </p:nvSpPr>
        <p:spPr>
          <a:xfrm>
            <a:off x="5212080" y="5303520"/>
            <a:ext cx="6400800" cy="868680"/>
          </a:xfrm>
          <a:prstGeom prst="roundRect">
            <a:avLst>
              <a:gd name="adj" fmla="val 31579"/>
            </a:avLst>
          </a:prstGeom>
          <a:solidFill>
            <a:srgbClr val="9B72C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5394960" y="5303520"/>
            <a:ext cx="60350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რა გააკეთეს დათუნიამ და მელიამ?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თამაში: რას გააკეთებდი შენ?</a:t>
            </a:r>
            <a:endParaRPr lang="en-US" sz="4000" dirty="0"/>
          </a:p>
        </p:txBody>
      </p:sp>
      <p:pic>
        <p:nvPicPr>
          <p:cNvPr id="3" name="thumbsUp" descr="ცერა თითი მაღლ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74320"/>
            <a:ext cx="1005840" cy="1005840"/>
          </a:xfrm>
          <a:prstGeom prst="rect">
            <a:avLst/>
          </a:prstGeom>
        </p:spPr>
      </p:pic>
      <p:pic>
        <p:nvPicPr>
          <p:cNvPr id="4" name="thinking" descr="დაფიქრებული სახ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74320"/>
            <a:ext cx="1005840" cy="1005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აწიე ცერა თითი 👍, თუ ეს კარგია, ან დაუშვი 👎, თუ ცუდია!</a:t>
            </a:r>
            <a:endParaRPr lang="en-US" sz="2200" dirty="0"/>
          </a:p>
        </p:txBody>
      </p:sp>
      <p:sp>
        <p:nvSpPr>
          <p:cNvPr id="6" name="qCard0"/>
          <p:cNvSpPr/>
          <p:nvPr/>
        </p:nvSpPr>
        <p:spPr>
          <a:xfrm>
            <a:off x="548640" y="2194560"/>
            <a:ext cx="5440680" cy="178308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qCircle0"/>
          <p:cNvSpPr/>
          <p:nvPr/>
        </p:nvSpPr>
        <p:spPr>
          <a:xfrm>
            <a:off x="777240" y="2542032"/>
            <a:ext cx="1097280" cy="1097280"/>
          </a:xfrm>
          <a:prstGeom prst="ellipse">
            <a:avLst/>
          </a:prstGeom>
          <a:solidFill>
            <a:srgbClr val="4DA8DA"/>
          </a:solidFill>
          <a:ln/>
        </p:spPr>
      </p:sp>
      <p:pic>
        <p:nvPicPr>
          <p:cNvPr id="8" name="qIcon0" descr="ახალ ბავშვს ვეუბნები: „მოდი, ერთად ვითამაშოთ!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79192"/>
            <a:ext cx="822960" cy="8229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103120" y="2286000"/>
            <a:ext cx="374904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ახალ ბავშვს ვეუბნები: „მოდი, ერთად ვითამაშოთ!“</a:t>
            </a:r>
            <a:endParaRPr lang="en-US" sz="2200" dirty="0"/>
          </a:p>
        </p:txBody>
      </p:sp>
      <p:sp>
        <p:nvSpPr>
          <p:cNvPr id="10" name="qCard1"/>
          <p:cNvSpPr/>
          <p:nvPr/>
        </p:nvSpPr>
        <p:spPr>
          <a:xfrm>
            <a:off x="6172200" y="2194560"/>
            <a:ext cx="5440680" cy="178308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qCircle1"/>
          <p:cNvSpPr/>
          <p:nvPr/>
        </p:nvSpPr>
        <p:spPr>
          <a:xfrm>
            <a:off x="6400800" y="2542032"/>
            <a:ext cx="1097280" cy="10972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2" name="qIcon1" descr="მეგობარს მის სათვალეზე დავცინ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79192"/>
            <a:ext cx="822960" cy="8229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726680" y="2286000"/>
            <a:ext cx="374904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მეგობარს მის სათვალეზე დავცინი</a:t>
            </a:r>
            <a:endParaRPr lang="en-US" sz="2200" dirty="0"/>
          </a:p>
        </p:txBody>
      </p:sp>
      <p:sp>
        <p:nvSpPr>
          <p:cNvPr id="14" name="qCard2"/>
          <p:cNvSpPr/>
          <p:nvPr/>
        </p:nvSpPr>
        <p:spPr>
          <a:xfrm>
            <a:off x="548640" y="4206240"/>
            <a:ext cx="5440680" cy="178308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qCircle2"/>
          <p:cNvSpPr/>
          <p:nvPr/>
        </p:nvSpPr>
        <p:spPr>
          <a:xfrm>
            <a:off x="777240" y="4553712"/>
            <a:ext cx="1097280" cy="1097280"/>
          </a:xfrm>
          <a:prstGeom prst="ellipse">
            <a:avLst/>
          </a:prstGeom>
          <a:solidFill>
            <a:srgbClr val="4CC9A6"/>
          </a:solidFill>
          <a:ln/>
        </p:spPr>
      </p:sp>
      <p:pic>
        <p:nvPicPr>
          <p:cNvPr id="16" name="qIcon2" descr="ვეუბნები მასწავლებელს, რომ ვიღაცას ჩაგრავე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90872"/>
            <a:ext cx="822960" cy="8229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2103120" y="4297680"/>
            <a:ext cx="374904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ვეუბნები მასწავლებელს, რომ ვიღაცას ჩაგრავენ</a:t>
            </a:r>
            <a:endParaRPr lang="en-US" sz="2200" dirty="0"/>
          </a:p>
        </p:txBody>
      </p:sp>
      <p:sp>
        <p:nvSpPr>
          <p:cNvPr id="18" name="qCard3"/>
          <p:cNvSpPr/>
          <p:nvPr/>
        </p:nvSpPr>
        <p:spPr>
          <a:xfrm>
            <a:off x="6172200" y="4206240"/>
            <a:ext cx="5440680" cy="178308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9" name="qCircle3"/>
          <p:cNvSpPr/>
          <p:nvPr/>
        </p:nvSpPr>
        <p:spPr>
          <a:xfrm>
            <a:off x="6400800" y="4553712"/>
            <a:ext cx="1097280" cy="1097280"/>
          </a:xfrm>
          <a:prstGeom prst="ellipse">
            <a:avLst/>
          </a:prstGeom>
          <a:solidFill>
            <a:srgbClr val="FF9F43"/>
          </a:solidFill>
          <a:ln/>
        </p:spPr>
      </p:sp>
      <p:pic>
        <p:nvPicPr>
          <p:cNvPr id="20" name="qIcon3" descr="მოწყენილ მეგობარს ჩემს სათამაშოს ვუზიარებ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690872"/>
            <a:ext cx="822960" cy="8229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726680" y="4297680"/>
            <a:ext cx="374904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მოწყენილ მეგობარს ჩემს სათამაშოს ვუზიარებ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3B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0"/>
          <p:cNvSpPr/>
          <p:nvPr/>
        </p:nvSpPr>
        <p:spPr>
          <a:xfrm>
            <a:off x="11521440" y="365760"/>
            <a:ext cx="411480" cy="41148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3" name="dot1"/>
          <p:cNvSpPr/>
          <p:nvPr/>
        </p:nvSpPr>
        <p:spPr>
          <a:xfrm>
            <a:off x="6583680" y="6035040"/>
            <a:ext cx="274320" cy="2743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" name="dot2"/>
          <p:cNvSpPr/>
          <p:nvPr/>
        </p:nvSpPr>
        <p:spPr>
          <a:xfrm>
            <a:off x="11430000" y="6126480"/>
            <a:ext cx="411480" cy="411480"/>
          </a:xfrm>
          <a:prstGeom prst="ellipse">
            <a:avLst/>
          </a:prstGeom>
          <a:solidFill>
            <a:srgbClr val="4CC9A6"/>
          </a:solidFill>
          <a:ln/>
        </p:spPr>
      </p:sp>
      <p:sp>
        <p:nvSpPr>
          <p:cNvPr id="5" name="dot3"/>
          <p:cNvSpPr/>
          <p:nvPr/>
        </p:nvSpPr>
        <p:spPr>
          <a:xfrm>
            <a:off x="731520" y="6217920"/>
            <a:ext cx="274320" cy="2743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dot4"/>
          <p:cNvSpPr/>
          <p:nvPr/>
        </p:nvSpPr>
        <p:spPr>
          <a:xfrm>
            <a:off x="5852160" y="6309360"/>
            <a:ext cx="228600" cy="22860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11480"/>
            <a:ext cx="105156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ჩვენი კლასის პირობა</a:t>
            </a:r>
            <a:endParaRPr lang="en-US" sz="4400" dirty="0"/>
          </a:p>
        </p:txBody>
      </p:sp>
      <p:sp>
        <p:nvSpPr>
          <p:cNvPr id="8" name="promise0"/>
          <p:cNvSpPr/>
          <p:nvPr/>
        </p:nvSpPr>
        <p:spPr>
          <a:xfrm>
            <a:off x="640080" y="1691640"/>
            <a:ext cx="6035040" cy="960120"/>
          </a:xfrm>
          <a:prstGeom prst="roundRect">
            <a:avLst>
              <a:gd name="adj" fmla="val 49524"/>
            </a:avLst>
          </a:prstGeom>
          <a:solidFill>
            <a:srgbClr val="FFFFFF"/>
          </a:solidFill>
          <a:ln/>
        </p:spPr>
      </p:sp>
      <p:pic>
        <p:nvPicPr>
          <p:cNvPr id="9" name="promiseIcon0" descr="მე ვიქნები კეთილ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2880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1691640"/>
            <a:ext cx="489204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მე ვიქნები კეთილი</a:t>
            </a:r>
            <a:endParaRPr lang="en-US" sz="2200" dirty="0"/>
          </a:p>
        </p:txBody>
      </p:sp>
      <p:sp>
        <p:nvSpPr>
          <p:cNvPr id="11" name="promise1"/>
          <p:cNvSpPr/>
          <p:nvPr/>
        </p:nvSpPr>
        <p:spPr>
          <a:xfrm>
            <a:off x="640080" y="2880360"/>
            <a:ext cx="6035040" cy="960120"/>
          </a:xfrm>
          <a:prstGeom prst="roundRect">
            <a:avLst>
              <a:gd name="adj" fmla="val 49524"/>
            </a:avLst>
          </a:prstGeom>
          <a:solidFill>
            <a:srgbClr val="FFFFFF"/>
          </a:solidFill>
          <a:ln/>
        </p:spPr>
      </p:sp>
      <p:pic>
        <p:nvPicPr>
          <p:cNvPr id="12" name="promiseIcon1" descr="მე დავეხმარები მეგობარ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01752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91640" y="2880360"/>
            <a:ext cx="489204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მე დავეხმარები მეგობარს</a:t>
            </a:r>
            <a:endParaRPr lang="en-US" sz="2200" dirty="0"/>
          </a:p>
        </p:txBody>
      </p:sp>
      <p:sp>
        <p:nvSpPr>
          <p:cNvPr id="14" name="promise2"/>
          <p:cNvSpPr/>
          <p:nvPr/>
        </p:nvSpPr>
        <p:spPr>
          <a:xfrm>
            <a:off x="640080" y="4069080"/>
            <a:ext cx="6035040" cy="960120"/>
          </a:xfrm>
          <a:prstGeom prst="roundRect">
            <a:avLst>
              <a:gd name="adj" fmla="val 49524"/>
            </a:avLst>
          </a:prstGeom>
          <a:solidFill>
            <a:srgbClr val="FFFFFF"/>
          </a:solidFill>
          <a:ln/>
        </p:spPr>
      </p:sp>
      <p:pic>
        <p:nvPicPr>
          <p:cNvPr id="15" name="promiseIcon2" descr="მე არ გავჩუმდები, თუ ვინმეს ჩაგრავე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0624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069080"/>
            <a:ext cx="489204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მე არ გავჩუმდები, თუ ვინმეს ჩაგრავენ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5349240"/>
            <a:ext cx="60350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მადლობა! ერთად ჩვენ ძლიერები ვართ!</a:t>
            </a:r>
            <a:endParaRPr lang="en-US" sz="2800" dirty="0"/>
          </a:p>
        </p:txBody>
      </p:sp>
      <p:pic>
        <p:nvPicPr>
          <p:cNvPr id="18" name="togetherPhoto" descr="ჩახუტებული მეგობარი ბავშვებ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417320"/>
            <a:ext cx="4572000" cy="3108960"/>
          </a:xfrm>
          <a:prstGeom prst="rect">
            <a:avLst/>
          </a:prstGeom>
        </p:spPr>
      </p:pic>
      <p:pic>
        <p:nvPicPr>
          <p:cNvPr id="19" name="heart13" descr="წითელი გულ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4069080"/>
            <a:ext cx="1097280" cy="1097280"/>
          </a:xfrm>
          <a:prstGeom prst="rect">
            <a:avLst/>
          </a:prstGeom>
        </p:spPr>
      </p:pic>
      <p:pic>
        <p:nvPicPr>
          <p:cNvPr id="20" name="party" descr="დღესასწაული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425196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სურათების წყაროები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3D ილუსტრაციები: Microsoft Fluent Emoji (MIT ლიცენზია) — github.com/microsoft/fluentui-emoji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ფოტოები: Wikimedia Commons —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„Group photograph of school children smiling in Laos“ — Basile Morin (CC BY-SA 4.0)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„US Navy 050115-N-9951E-143 Children smile… Lamno, Sumatra“ — U.S. Navy, Elizabeth A. Edwards (Public domain)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„Child depressed alone poverty“ — DarkWorkX (CC0)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„Friends, Jimma“ — Rod Waddington (CC BY-SA 2.0)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„Todler's Academy“ — Mehulbaris (CC BY-SA 3.0)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„Bunny rabbit cartoon“ — Joe Wos (CC BY-SA 4.0)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„Group of children from Vladivostok“ — Mitya Ku (CC BY-SA 2.0)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ფოტოები ჩამოჭრილია და მომრგვალებულ ჩარჩოშია ჩასმული. სრული ბმულები: documents/images/CREDITS.md</a:t>
            </a:r>
            <a:endParaRPr lang="en-US" sz="1600" dirty="0"/>
          </a:p>
        </p:txBody>
      </p:sp>
      <p:pic>
        <p:nvPicPr>
          <p:cNvPr id="4" name="books" descr="წიგნებ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2636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iendship Sunshine">
  <a:themeElements>
    <a:clrScheme name="Friendship Sunshine">
      <a:dk1>
        <a:srgbClr val="2B2D42"/>
      </a:dk1>
      <a:lt1>
        <a:srgbClr val="FFFFFF"/>
      </a:lt1>
      <a:dk2>
        <a:srgbClr val="3D3B8E"/>
      </a:dk2>
      <a:lt2>
        <a:srgbClr val="FFF6D6"/>
      </a:lt2>
      <a:accent1>
        <a:srgbClr val="FF6B6B"/>
      </a:accent1>
      <a:accent2>
        <a:srgbClr val="FFC93C"/>
      </a:accent2>
      <a:accent3>
        <a:srgbClr val="4CC9A6"/>
      </a:accent3>
      <a:accent4>
        <a:srgbClr val="4DA8DA"/>
      </a:accent4>
      <a:accent5>
        <a:srgbClr val="9B72CF"/>
      </a:accent5>
      <a:accent6>
        <a:srgbClr val="FF9F43"/>
      </a:accent6>
      <a:hlink>
        <a:srgbClr val="3D3B8E"/>
      </a:hlink>
      <a:folHlink>
        <a:srgbClr val="9B72CF"/>
      </a:folHlink>
    </a:clrScheme>
    <a:fontScheme name="Friendship Sunshine">
      <a:majorFont>
        <a:latin typeface="Sylfae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ylfae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ჩაგვრა და სოლიდარობა</dc:title>
  <dc:subject>პრეზენტაცია პირველკლასელებისთვის</dc:subject>
  <dc:creator>პირველი კლასი</dc:creator>
  <cp:lastModifiedBy>პირველი კლასი</cp:lastModifiedBy>
  <cp:revision>1</cp:revision>
  <dcterms:created xsi:type="dcterms:W3CDTF">2026-10-28T22:55:25Z</dcterms:created>
  <dcterms:modified xsi:type="dcterms:W3CDTF">2026-10-28T22:55:25Z</dcterms:modified>
</cp:coreProperties>
</file>